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56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41915-398F-954D-E78C-A170A4684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D476B-0080-E043-2E68-6931960B9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C0DBA-7A48-CB30-0E2F-87BD212A0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9CA3-348E-D741-8624-6B7E9623D76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C9E85-3238-CBFA-E5E1-AE9264CD1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A9606-DF0B-4BEF-0542-BD6A4716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897DC-5F4A-D242-86C3-CEBAD2469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71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179E-D06B-17C6-84CA-AA88D5455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6509-9D92-E672-703A-4D2828079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1AA56-9A21-15EE-4AD3-863CDADF7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9CA3-348E-D741-8624-6B7E9623D76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B498E-E728-8A4F-9B15-F20EC34F6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771C-2447-C2E1-57E0-A49C6139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897DC-5F4A-D242-86C3-CEBAD2469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3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5517B-F9F8-C4ED-0C8D-790F25462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943CF-1AB0-8A51-7902-CEC3CEB7A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CDAA5-E757-704F-C37D-EB9952EF1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9CA3-348E-D741-8624-6B7E9623D76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30C21-77C5-6E9F-925F-58264977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27574-D8B9-1274-5AAF-54BB39B7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897DC-5F4A-D242-86C3-CEBAD2469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25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58F89-80E6-549B-B329-A7B4A71F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9727D-1D4F-4165-51B8-23C970E16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695FF-F950-AEAB-46ED-B31A56067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FE02F-857D-E5E0-9ACD-5A89B1479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9CA3-348E-D741-8624-6B7E9623D76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93C99-ACE5-1310-13AF-2B40445C4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14DBF-8A00-58A5-CF04-88488F104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897DC-5F4A-D242-86C3-CEBAD2469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3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4B963-D280-D7E2-4240-6E4C104B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630C2-2087-0142-ECCF-08D0EA399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A1577-5FCD-8B10-9FD9-E56BA7F7D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A3F09C-20BA-A4B9-37D4-12BE6AB8F9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8963D3-E6C5-945D-ADC4-19E5A3E777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C33C1B-91FA-E755-0B55-D8258688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9CA3-348E-D741-8624-6B7E9623D76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4B0BDA-D24C-8246-1340-E719682C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893CF-6928-ABEC-1C40-20AD577F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897DC-5F4A-D242-86C3-CEBAD2469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65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83D83-F8DB-9938-6138-4442EC1F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239AB-4B7E-F3E1-B790-6F72AB99C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9CA3-348E-D741-8624-6B7E9623D76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6E15C-AE23-BEBF-CD2C-26910538C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51FFF-4D2C-8D8C-13CE-FFA948E6F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897DC-5F4A-D242-86C3-CEBAD2469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66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1472C-175B-91E6-BAC6-A7C16AE3A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9CA3-348E-D741-8624-6B7E9623D76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F44692-6A68-6C8B-B0BA-FF5D00BE1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E8714-DFF9-C820-4007-E8326155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897DC-5F4A-D242-86C3-CEBAD2469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38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28E92-BDDD-EA15-DD03-1C6A74355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13264-D01C-6F18-1759-568F8422A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A15F5-03C6-B002-9E46-903C80AE4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41DA1-5C0A-C467-2098-B5A59931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9CA3-348E-D741-8624-6B7E9623D76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0802D-38C9-827D-BFC4-0FCE891FA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6BD5A-CDB1-DFB3-2EFD-38E5CC4E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897DC-5F4A-D242-86C3-CEBAD2469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1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06B2-4A15-4A80-42C0-E29B1D671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6CA8B-7E92-49BB-E90F-5A49F6E16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E9471-02BB-C802-F8CC-23507BBBF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82DF1-92EF-6CC9-17C5-120B1336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9CA3-348E-D741-8624-6B7E9623D76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06E14-41CB-DB5F-C168-9D9C4F936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B65ED-3D7C-4FFC-A94D-F31A1BF72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897DC-5F4A-D242-86C3-CEBAD2469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3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D9F73-9BF0-0F18-C150-37AA100E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21C06-4628-EEDD-5DEE-C9892DB15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412A5-947E-6FD7-2370-341A06D9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9CA3-348E-D741-8624-6B7E9623D76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8406D-A243-6802-B2A2-5101F5A2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1E3EB-766F-46FF-6072-444E3EE58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897DC-5F4A-D242-86C3-CEBAD2469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33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3F462-8FAE-D040-903E-7A2364AA5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150CE-6CC1-0CE6-988C-9CB5AE238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703E1-DDF6-3F9D-9C77-6922BFF90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C9CA3-348E-D741-8624-6B7E9623D76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50AD9-69F4-8CE2-EACE-F44E944C2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91B7C-E100-B1E5-E082-199E4F20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897DC-5F4A-D242-86C3-CEBAD2469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97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A69E0A-C911-66B3-337E-F2C1B81DA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02314-4400-A48F-E57A-51C9F55E4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C7415-4F2A-0573-CCEC-80B8698B7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0C9CA3-348E-D741-8624-6B7E9623D76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26936-1DF6-9482-329A-1A297B131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E431B-D10D-849F-068E-1365D82F2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897DC-5F4A-D242-86C3-CEBAD2469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2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B4C5EF-E497-E72E-D638-ADEBCCFA1D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/convergence-review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082E5FD-301D-AC17-67D8-9DFF56B82E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153351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11EDD-2789-9066-2357-FFA6E061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5EAC4-2CDC-EFD4-670C-A81BCA645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several reviewers (number depends on type of review)</a:t>
            </a:r>
          </a:p>
          <a:p>
            <a:r>
              <a:rPr lang="en-US" dirty="0"/>
              <a:t>Synthesize results from reviewers:</a:t>
            </a:r>
          </a:p>
          <a:p>
            <a:pPr lvl="1"/>
            <a:r>
              <a:rPr lang="en-US" dirty="0"/>
              <a:t>Deduplication</a:t>
            </a:r>
          </a:p>
          <a:p>
            <a:r>
              <a:rPr lang="en-US" dirty="0"/>
              <a:t>Fix CRITICAL and IMPORTANT issues</a:t>
            </a:r>
          </a:p>
          <a:p>
            <a:pPr lvl="1"/>
            <a:r>
              <a:rPr lang="en-US" dirty="0"/>
              <a:t>Fixer may skip a fix if it feels it has already been addressed or is a non-issue</a:t>
            </a:r>
          </a:p>
          <a:p>
            <a:r>
              <a:rPr lang="en-US" dirty="0"/>
              <a:t>Repeat until:</a:t>
            </a:r>
          </a:p>
          <a:p>
            <a:pPr lvl="1"/>
            <a:r>
              <a:rPr lang="en-US" dirty="0"/>
              <a:t>No CRITICAL and IMPORTANT issues</a:t>
            </a:r>
          </a:p>
          <a:p>
            <a:pPr lvl="1"/>
            <a:r>
              <a:rPr lang="en-US" dirty="0"/>
              <a:t>Max number of rounds passes</a:t>
            </a:r>
          </a:p>
          <a:p>
            <a:pPr lvl="1"/>
            <a:r>
              <a:rPr lang="en-US" dirty="0"/>
              <a:t>The review process fails to make progress</a:t>
            </a:r>
          </a:p>
        </p:txBody>
      </p:sp>
    </p:spTree>
    <p:extLst>
      <p:ext uri="{BB962C8B-B14F-4D97-AF65-F5344CB8AC3E}">
        <p14:creationId xmlns:p14="http://schemas.microsoft.com/office/powerpoint/2010/main" val="1640341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7958-17C1-B41F-706C-27D42A20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D3D7B-9BE4-6F4F-C19F-75CC85031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Process embedded in </a:t>
            </a:r>
            <a:r>
              <a:rPr lang="en-US" dirty="0" err="1"/>
              <a:t>SKILL.md</a:t>
            </a:r>
            <a:r>
              <a:rPr lang="en-US" dirty="0"/>
              <a:t> as orchestrator</a:t>
            </a:r>
          </a:p>
          <a:p>
            <a:pPr lvl="1"/>
            <a:r>
              <a:rPr lang="en-US" dirty="0"/>
              <a:t>Reviewers are agents</a:t>
            </a:r>
          </a:p>
          <a:p>
            <a:pPr lvl="1"/>
            <a:r>
              <a:rPr lang="en-US" dirty="0"/>
              <a:t>Orchestrator reviews results and fixes document</a:t>
            </a:r>
          </a:p>
          <a:p>
            <a:endParaRPr lang="en-US" dirty="0"/>
          </a:p>
          <a:p>
            <a:r>
              <a:rPr lang="en-US" dirty="0"/>
              <a:t>Problems observed</a:t>
            </a:r>
          </a:p>
          <a:p>
            <a:pPr lvl="1"/>
            <a:r>
              <a:rPr lang="en-US" dirty="0"/>
              <a:t>Run out of context after just 1 or 2 rounds</a:t>
            </a:r>
          </a:p>
          <a:p>
            <a:pPr lvl="1"/>
            <a:r>
              <a:rPr lang="en-US" dirty="0"/>
              <a:t>Fail to re-review after fixing</a:t>
            </a:r>
          </a:p>
          <a:p>
            <a:pPr lvl="1"/>
            <a:r>
              <a:rPr lang="en-US" dirty="0"/>
              <a:t>Bias towards “fixed”</a:t>
            </a:r>
          </a:p>
          <a:p>
            <a:pPr lvl="1"/>
            <a:endParaRPr lang="en-US" dirty="0"/>
          </a:p>
          <a:p>
            <a:r>
              <a:rPr lang="en-US" dirty="0"/>
              <a:t>Key issue: context too large</a:t>
            </a:r>
          </a:p>
          <a:p>
            <a:pPr lvl="1"/>
            <a:r>
              <a:rPr lang="en-US" dirty="0"/>
              <a:t>Biases decisions</a:t>
            </a:r>
          </a:p>
          <a:p>
            <a:pPr lvl="1"/>
            <a:r>
              <a:rPr lang="en-US" dirty="0"/>
              <a:t>Makes orchestrator “forget” its instructions</a:t>
            </a:r>
          </a:p>
        </p:txBody>
      </p:sp>
    </p:spTree>
    <p:extLst>
      <p:ext uri="{BB962C8B-B14F-4D97-AF65-F5344CB8AC3E}">
        <p14:creationId xmlns:p14="http://schemas.microsoft.com/office/powerpoint/2010/main" val="3905738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DA021-2749-5B0F-A3A9-28B45C631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BF0A795-1EF8-2197-5036-9A59E1BB6264}"/>
              </a:ext>
            </a:extLst>
          </p:cNvPr>
          <p:cNvSpPr/>
          <p:nvPr/>
        </p:nvSpPr>
        <p:spPr>
          <a:xfrm>
            <a:off x="2922061" y="2624235"/>
            <a:ext cx="1615857" cy="7640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Orchestrator</a:t>
            </a:r>
          </a:p>
          <a:p>
            <a:pPr algn="ctr"/>
            <a:r>
              <a:rPr lang="en-US" dirty="0"/>
              <a:t>(python)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3345AE4-B6A3-A5B6-7C45-EAFAC78EB2C3}"/>
              </a:ext>
            </a:extLst>
          </p:cNvPr>
          <p:cNvSpPr/>
          <p:nvPr/>
        </p:nvSpPr>
        <p:spPr>
          <a:xfrm>
            <a:off x="8091949" y="1075392"/>
            <a:ext cx="1615857" cy="7640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Reviewer</a:t>
            </a:r>
          </a:p>
          <a:p>
            <a:pPr algn="ctr"/>
            <a:r>
              <a:rPr lang="en-US" dirty="0"/>
              <a:t>(http/</a:t>
            </a:r>
            <a:r>
              <a:rPr lang="en-US" dirty="0" err="1"/>
              <a:t>openai</a:t>
            </a:r>
            <a:r>
              <a:rPr lang="en-US" dirty="0"/>
              <a:t>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0530E9E-BC73-82FA-0080-338E8F8B704D}"/>
              </a:ext>
            </a:extLst>
          </p:cNvPr>
          <p:cNvSpPr/>
          <p:nvPr/>
        </p:nvSpPr>
        <p:spPr>
          <a:xfrm>
            <a:off x="8390421" y="3819593"/>
            <a:ext cx="1615857" cy="7640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Assessor</a:t>
            </a:r>
          </a:p>
          <a:p>
            <a:pPr algn="ctr"/>
            <a:r>
              <a:rPr lang="en-US" dirty="0"/>
              <a:t>(http/</a:t>
            </a:r>
            <a:r>
              <a:rPr lang="en-US" dirty="0" err="1"/>
              <a:t>openai</a:t>
            </a:r>
            <a:r>
              <a:rPr lang="en-US" dirty="0"/>
              <a:t>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752846-F9F7-65B5-8B15-437AB8985082}"/>
              </a:ext>
            </a:extLst>
          </p:cNvPr>
          <p:cNvSpPr/>
          <p:nvPr/>
        </p:nvSpPr>
        <p:spPr>
          <a:xfrm>
            <a:off x="7499186" y="5170972"/>
            <a:ext cx="1615857" cy="7640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Fixer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claude</a:t>
            </a:r>
            <a:r>
              <a:rPr lang="en-US" dirty="0"/>
              <a:t> –p)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5CBCB9-DB51-4138-C449-0A81115EF0AE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4537918" y="1457436"/>
            <a:ext cx="3554031" cy="1548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E96C4FE-97CF-A97E-1D84-E596A7E7FEF3}"/>
              </a:ext>
            </a:extLst>
          </p:cNvPr>
          <p:cNvSpPr/>
          <p:nvPr/>
        </p:nvSpPr>
        <p:spPr>
          <a:xfrm>
            <a:off x="8244349" y="1227792"/>
            <a:ext cx="1615857" cy="7640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Reviewer</a:t>
            </a:r>
          </a:p>
          <a:p>
            <a:pPr algn="ctr"/>
            <a:r>
              <a:rPr lang="en-US" dirty="0"/>
              <a:t>(http/</a:t>
            </a:r>
            <a:r>
              <a:rPr lang="en-US" dirty="0" err="1"/>
              <a:t>openai</a:t>
            </a:r>
            <a:r>
              <a:rPr lang="en-US" dirty="0"/>
              <a:t>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5FFD872-3C65-39D2-0870-56630CDCAFEB}"/>
              </a:ext>
            </a:extLst>
          </p:cNvPr>
          <p:cNvSpPr/>
          <p:nvPr/>
        </p:nvSpPr>
        <p:spPr>
          <a:xfrm>
            <a:off x="8396749" y="1380192"/>
            <a:ext cx="1615857" cy="7640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Reviewer</a:t>
            </a:r>
          </a:p>
          <a:p>
            <a:pPr algn="ctr"/>
            <a:r>
              <a:rPr lang="en-US" dirty="0"/>
              <a:t>(http/</a:t>
            </a:r>
            <a:r>
              <a:rPr lang="en-US" dirty="0" err="1"/>
              <a:t>openai</a:t>
            </a:r>
            <a:r>
              <a:rPr lang="en-US" dirty="0"/>
              <a:t>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274936-DB15-FB51-1BB7-916840FEEFA1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4537918" y="1609836"/>
            <a:ext cx="3706431" cy="1396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C5E33AB-8CD6-FF62-75D7-784D1148A5C8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 flipV="1">
            <a:off x="4537918" y="1762236"/>
            <a:ext cx="3858831" cy="1244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9BD586-7983-12AC-8F47-31842910D2C1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4537918" y="3006279"/>
            <a:ext cx="3852503" cy="1195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9CD26C8-F168-E5A5-8DF2-6B3FCF26CA13}"/>
              </a:ext>
            </a:extLst>
          </p:cNvPr>
          <p:cNvCxnSpPr>
            <a:cxnSpLocks/>
            <a:stCxn id="4" idx="3"/>
            <a:endCxn id="9" idx="0"/>
          </p:cNvCxnSpPr>
          <p:nvPr/>
        </p:nvCxnSpPr>
        <p:spPr>
          <a:xfrm>
            <a:off x="4537918" y="3006279"/>
            <a:ext cx="3769197" cy="2164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Magnetic Disk 25">
            <a:extLst>
              <a:ext uri="{FF2B5EF4-FFF2-40B4-BE49-F238E27FC236}">
                <a16:creationId xmlns:a16="http://schemas.microsoft.com/office/drawing/2014/main" id="{EB00C98D-695A-15C2-B358-82035822FF60}"/>
              </a:ext>
            </a:extLst>
          </p:cNvPr>
          <p:cNvSpPr/>
          <p:nvPr/>
        </p:nvSpPr>
        <p:spPr>
          <a:xfrm>
            <a:off x="734967" y="4383692"/>
            <a:ext cx="1615856" cy="99775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convergence-state</a:t>
            </a:r>
          </a:p>
        </p:txBody>
      </p:sp>
      <p:sp>
        <p:nvSpPr>
          <p:cNvPr id="28" name="Card 27">
            <a:extLst>
              <a:ext uri="{FF2B5EF4-FFF2-40B4-BE49-F238E27FC236}">
                <a16:creationId xmlns:a16="http://schemas.microsoft.com/office/drawing/2014/main" id="{43F953BF-E206-BF06-1A0B-092C5F318661}"/>
              </a:ext>
            </a:extLst>
          </p:cNvPr>
          <p:cNvSpPr/>
          <p:nvPr/>
        </p:nvSpPr>
        <p:spPr>
          <a:xfrm>
            <a:off x="2523437" y="4511930"/>
            <a:ext cx="1189821" cy="76408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 summary</a:t>
            </a:r>
          </a:p>
        </p:txBody>
      </p:sp>
      <p:sp>
        <p:nvSpPr>
          <p:cNvPr id="29" name="Card 28">
            <a:extLst>
              <a:ext uri="{FF2B5EF4-FFF2-40B4-BE49-F238E27FC236}">
                <a16:creationId xmlns:a16="http://schemas.microsoft.com/office/drawing/2014/main" id="{8FCD0722-9145-FB41-D50C-FD829AC1A73E}"/>
              </a:ext>
            </a:extLst>
          </p:cNvPr>
          <p:cNvSpPr/>
          <p:nvPr/>
        </p:nvSpPr>
        <p:spPr>
          <a:xfrm>
            <a:off x="4447204" y="5151342"/>
            <a:ext cx="1189821" cy="76408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doc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EA87B6-4C76-92B2-E4FB-C513ED88B057}"/>
              </a:ext>
            </a:extLst>
          </p:cNvPr>
          <p:cNvSpPr txBox="1"/>
          <p:nvPr/>
        </p:nvSpPr>
        <p:spPr>
          <a:xfrm>
            <a:off x="2434129" y="5276017"/>
            <a:ext cx="1299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readable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BBEC52-AFFD-5843-78AC-DD13887AF2BB}"/>
              </a:ext>
            </a:extLst>
          </p:cNvPr>
          <p:cNvSpPr txBox="1"/>
          <p:nvPr/>
        </p:nvSpPr>
        <p:spPr>
          <a:xfrm>
            <a:off x="890741" y="5394887"/>
            <a:ext cx="10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skill readable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7991F9A-CEEF-2EAC-D9FE-E2854DBD76C0}"/>
              </a:ext>
            </a:extLst>
          </p:cNvPr>
          <p:cNvSpPr/>
          <p:nvPr/>
        </p:nvSpPr>
        <p:spPr>
          <a:xfrm>
            <a:off x="7531968" y="2617717"/>
            <a:ext cx="1615857" cy="7640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reformatter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DC39C5-134C-895D-A7E2-B3B14C81D923}"/>
              </a:ext>
            </a:extLst>
          </p:cNvPr>
          <p:cNvSpPr txBox="1"/>
          <p:nvPr/>
        </p:nvSpPr>
        <p:spPr>
          <a:xfrm>
            <a:off x="9204677" y="2591253"/>
            <a:ext cx="22081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Despite the rules, sometimes reviewers or the assessor don’t return the required JSON format. This is a fallback.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06BBBF-D471-696E-C976-CC670E2E71DB}"/>
              </a:ext>
            </a:extLst>
          </p:cNvPr>
          <p:cNvCxnSpPr>
            <a:cxnSpLocks/>
            <a:stCxn id="9" idx="1"/>
            <a:endCxn id="29" idx="3"/>
          </p:cNvCxnSpPr>
          <p:nvPr/>
        </p:nvCxnSpPr>
        <p:spPr>
          <a:xfrm flipH="1" flipV="1">
            <a:off x="5637025" y="5533386"/>
            <a:ext cx="1862161" cy="19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FCC61D8-C01F-17D2-65A2-CC048D09EAB7}"/>
              </a:ext>
            </a:extLst>
          </p:cNvPr>
          <p:cNvSpPr txBox="1"/>
          <p:nvPr/>
        </p:nvSpPr>
        <p:spPr>
          <a:xfrm>
            <a:off x="5947774" y="5276017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modifies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D7E0A02-85E1-E812-A36F-2766AC518C60}"/>
              </a:ext>
            </a:extLst>
          </p:cNvPr>
          <p:cNvCxnSpPr>
            <a:cxnSpLocks/>
            <a:stCxn id="4" idx="3"/>
            <a:endCxn id="35" idx="1"/>
          </p:cNvCxnSpPr>
          <p:nvPr/>
        </p:nvCxnSpPr>
        <p:spPr>
          <a:xfrm flipV="1">
            <a:off x="4537918" y="2999761"/>
            <a:ext cx="2994050" cy="651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13A8C55-54EB-D62A-3B43-4EB898F42F6C}"/>
              </a:ext>
            </a:extLst>
          </p:cNvPr>
          <p:cNvCxnSpPr>
            <a:cxnSpLocks/>
            <a:stCxn id="4" idx="2"/>
            <a:endCxn id="26" idx="1"/>
          </p:cNvCxnSpPr>
          <p:nvPr/>
        </p:nvCxnSpPr>
        <p:spPr>
          <a:xfrm flipH="1">
            <a:off x="1542895" y="3388322"/>
            <a:ext cx="2187095" cy="995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F7CABEE-095B-E1C5-0CF4-A70BCF3968C8}"/>
              </a:ext>
            </a:extLst>
          </p:cNvPr>
          <p:cNvSpPr txBox="1"/>
          <p:nvPr/>
        </p:nvSpPr>
        <p:spPr>
          <a:xfrm>
            <a:off x="2887458" y="3687886"/>
            <a:ext cx="589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writes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CA5777-E3FF-3746-65D0-91487C735529}"/>
              </a:ext>
            </a:extLst>
          </p:cNvPr>
          <p:cNvCxnSpPr>
            <a:cxnSpLocks/>
            <a:stCxn id="4" idx="2"/>
            <a:endCxn id="28" idx="0"/>
          </p:cNvCxnSpPr>
          <p:nvPr/>
        </p:nvCxnSpPr>
        <p:spPr>
          <a:xfrm flipH="1">
            <a:off x="3118348" y="3388322"/>
            <a:ext cx="611642" cy="1123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3ECD19B-A2EE-E502-A169-7DB36DC5CCE4}"/>
              </a:ext>
            </a:extLst>
          </p:cNvPr>
          <p:cNvSpPr txBox="1"/>
          <p:nvPr/>
        </p:nvSpPr>
        <p:spPr>
          <a:xfrm>
            <a:off x="9109565" y="71585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D992BC-8A2B-08C5-C4C8-EA4C7EB425AF}"/>
              </a:ext>
            </a:extLst>
          </p:cNvPr>
          <p:cNvSpPr txBox="1"/>
          <p:nvPr/>
        </p:nvSpPr>
        <p:spPr>
          <a:xfrm>
            <a:off x="8561474" y="230719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DD5961-A3A8-DA0B-6931-2796F3422D2A}"/>
              </a:ext>
            </a:extLst>
          </p:cNvPr>
          <p:cNvSpPr txBox="1"/>
          <p:nvPr/>
        </p:nvSpPr>
        <p:spPr>
          <a:xfrm>
            <a:off x="9480575" y="349779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3B8D32-8658-995B-375D-612120A60ACB}"/>
              </a:ext>
            </a:extLst>
          </p:cNvPr>
          <p:cNvSpPr txBox="1"/>
          <p:nvPr/>
        </p:nvSpPr>
        <p:spPr>
          <a:xfrm>
            <a:off x="7705471" y="4836803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Claude code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0C9C86F-2027-72DA-E24D-6AB5FE1CD4CC}"/>
              </a:ext>
            </a:extLst>
          </p:cNvPr>
          <p:cNvCxnSpPr>
            <a:cxnSpLocks/>
            <a:stCxn id="29" idx="0"/>
            <a:endCxn id="4" idx="2"/>
          </p:cNvCxnSpPr>
          <p:nvPr/>
        </p:nvCxnSpPr>
        <p:spPr>
          <a:xfrm flipH="1" flipV="1">
            <a:off x="3729990" y="3388322"/>
            <a:ext cx="1312125" cy="176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4706D06-4335-2519-6A9F-CAB1A5C6AA99}"/>
              </a:ext>
            </a:extLst>
          </p:cNvPr>
          <p:cNvSpPr txBox="1"/>
          <p:nvPr/>
        </p:nvSpPr>
        <p:spPr>
          <a:xfrm>
            <a:off x="2542742" y="1664935"/>
            <a:ext cx="237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/convergence-review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20A0691-675E-4037-8DC7-63637737C255}"/>
              </a:ext>
            </a:extLst>
          </p:cNvPr>
          <p:cNvCxnSpPr>
            <a:cxnSpLocks/>
            <a:stCxn id="72" idx="2"/>
            <a:endCxn id="4" idx="0"/>
          </p:cNvCxnSpPr>
          <p:nvPr/>
        </p:nvCxnSpPr>
        <p:spPr>
          <a:xfrm>
            <a:off x="3729990" y="2034267"/>
            <a:ext cx="0" cy="589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4A4E0006-F069-4D82-2E78-C7FBE293C817}"/>
              </a:ext>
            </a:extLst>
          </p:cNvPr>
          <p:cNvSpPr txBox="1"/>
          <p:nvPr/>
        </p:nvSpPr>
        <p:spPr>
          <a:xfrm>
            <a:off x="3216006" y="2144279"/>
            <a:ext cx="5011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calls</a:t>
            </a:r>
          </a:p>
        </p:txBody>
      </p:sp>
      <p:sp>
        <p:nvSpPr>
          <p:cNvPr id="78" name="Card 77">
            <a:extLst>
              <a:ext uri="{FF2B5EF4-FFF2-40B4-BE49-F238E27FC236}">
                <a16:creationId xmlns:a16="http://schemas.microsoft.com/office/drawing/2014/main" id="{0070CA91-76CB-D17A-9616-A3E0DFD28DC3}"/>
              </a:ext>
            </a:extLst>
          </p:cNvPr>
          <p:cNvSpPr/>
          <p:nvPr/>
        </p:nvSpPr>
        <p:spPr>
          <a:xfrm>
            <a:off x="6967873" y="1629927"/>
            <a:ext cx="709195" cy="472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 doc</a:t>
            </a:r>
          </a:p>
        </p:txBody>
      </p:sp>
      <p:sp>
        <p:nvSpPr>
          <p:cNvPr id="80" name="Card 79">
            <a:extLst>
              <a:ext uri="{FF2B5EF4-FFF2-40B4-BE49-F238E27FC236}">
                <a16:creationId xmlns:a16="http://schemas.microsoft.com/office/drawing/2014/main" id="{159A4042-C1B3-D0B4-19EE-E3BD4ABDE882}"/>
              </a:ext>
            </a:extLst>
          </p:cNvPr>
          <p:cNvSpPr/>
          <p:nvPr/>
        </p:nvSpPr>
        <p:spPr>
          <a:xfrm>
            <a:off x="6179416" y="1959593"/>
            <a:ext cx="709195" cy="472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 history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141A097-C0B1-DC0A-46E1-6E58DD270E63}"/>
              </a:ext>
            </a:extLst>
          </p:cNvPr>
          <p:cNvSpPr txBox="1"/>
          <p:nvPr/>
        </p:nvSpPr>
        <p:spPr>
          <a:xfrm>
            <a:off x="10031078" y="1203270"/>
            <a:ext cx="1993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Each reviewer has a different perspective.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E62636C-3518-BDF2-447C-FCFC945281EB}"/>
              </a:ext>
            </a:extLst>
          </p:cNvPr>
          <p:cNvSpPr txBox="1"/>
          <p:nvPr/>
        </p:nvSpPr>
        <p:spPr>
          <a:xfrm>
            <a:off x="10031078" y="3826386"/>
            <a:ext cx="199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Reviews the results from the reviewer to remove duplicates and any already fixed in the </a:t>
            </a:r>
            <a:r>
              <a:rPr lang="en-US" sz="1200" dirty="0" err="1"/>
              <a:t>past.a</a:t>
            </a:r>
            <a:endParaRPr lang="en-US" sz="1200" dirty="0"/>
          </a:p>
        </p:txBody>
      </p:sp>
      <p:sp>
        <p:nvSpPr>
          <p:cNvPr id="104" name="Card 103">
            <a:extLst>
              <a:ext uri="{FF2B5EF4-FFF2-40B4-BE49-F238E27FC236}">
                <a16:creationId xmlns:a16="http://schemas.microsoft.com/office/drawing/2014/main" id="{20DCA04E-08B2-A0EA-ADEB-0DA1F6C93608}"/>
              </a:ext>
            </a:extLst>
          </p:cNvPr>
          <p:cNvSpPr/>
          <p:nvPr/>
        </p:nvSpPr>
        <p:spPr>
          <a:xfrm>
            <a:off x="7413220" y="3713597"/>
            <a:ext cx="709195" cy="472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 reviews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669BCA6-CAC0-4EEC-5174-31B7039A5275}"/>
              </a:ext>
            </a:extLst>
          </p:cNvPr>
          <p:cNvSpPr txBox="1"/>
          <p:nvPr/>
        </p:nvSpPr>
        <p:spPr>
          <a:xfrm>
            <a:off x="9235603" y="5126939"/>
            <a:ext cx="199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Fixes problems – may choose not to take action if it believes it has already been fixed.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0778023-DD2B-9767-78D0-C60B53039D01}"/>
              </a:ext>
            </a:extLst>
          </p:cNvPr>
          <p:cNvSpPr txBox="1"/>
          <p:nvPr/>
        </p:nvSpPr>
        <p:spPr>
          <a:xfrm>
            <a:off x="4192561" y="3931156"/>
            <a:ext cx="12401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reads/forwards</a:t>
            </a:r>
          </a:p>
        </p:txBody>
      </p:sp>
      <p:sp>
        <p:nvSpPr>
          <p:cNvPr id="123" name="Card 122">
            <a:extLst>
              <a:ext uri="{FF2B5EF4-FFF2-40B4-BE49-F238E27FC236}">
                <a16:creationId xmlns:a16="http://schemas.microsoft.com/office/drawing/2014/main" id="{E9A5E832-5B77-B708-220C-20B37BC99155}"/>
              </a:ext>
            </a:extLst>
          </p:cNvPr>
          <p:cNvSpPr/>
          <p:nvPr/>
        </p:nvSpPr>
        <p:spPr>
          <a:xfrm>
            <a:off x="7047894" y="4406885"/>
            <a:ext cx="709195" cy="472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 reviews</a:t>
            </a:r>
          </a:p>
        </p:txBody>
      </p:sp>
      <p:sp>
        <p:nvSpPr>
          <p:cNvPr id="125" name="Card 124">
            <a:extLst>
              <a:ext uri="{FF2B5EF4-FFF2-40B4-BE49-F238E27FC236}">
                <a16:creationId xmlns:a16="http://schemas.microsoft.com/office/drawing/2014/main" id="{2381726C-A8BE-DB00-5462-13C7B4F69E34}"/>
              </a:ext>
            </a:extLst>
          </p:cNvPr>
          <p:cNvSpPr/>
          <p:nvPr/>
        </p:nvSpPr>
        <p:spPr>
          <a:xfrm>
            <a:off x="6213507" y="4088625"/>
            <a:ext cx="709195" cy="472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 history</a:t>
            </a:r>
          </a:p>
        </p:txBody>
      </p:sp>
      <p:sp>
        <p:nvSpPr>
          <p:cNvPr id="126" name="Card 125">
            <a:extLst>
              <a:ext uri="{FF2B5EF4-FFF2-40B4-BE49-F238E27FC236}">
                <a16:creationId xmlns:a16="http://schemas.microsoft.com/office/drawing/2014/main" id="{416E705A-9074-B466-3F6B-79A0689BA1E1}"/>
              </a:ext>
            </a:extLst>
          </p:cNvPr>
          <p:cNvSpPr/>
          <p:nvPr/>
        </p:nvSpPr>
        <p:spPr>
          <a:xfrm>
            <a:off x="6540034" y="3428573"/>
            <a:ext cx="709195" cy="472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 history</a:t>
            </a:r>
          </a:p>
        </p:txBody>
      </p:sp>
    </p:spTree>
    <p:extLst>
      <p:ext uri="{BB962C8B-B14F-4D97-AF65-F5344CB8AC3E}">
        <p14:creationId xmlns:p14="http://schemas.microsoft.com/office/powerpoint/2010/main" val="3331823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D52F-BF4B-5894-A0F9-E80FF808C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Prompt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A1F3D-90D5-4E36-323A-3814A6684059}"/>
              </a:ext>
            </a:extLst>
          </p:cNvPr>
          <p:cNvSpPr txBox="1"/>
          <p:nvPr/>
        </p:nvSpPr>
        <p:spPr>
          <a:xfrm>
            <a:off x="627195" y="2423711"/>
            <a:ext cx="10937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 /convergence-review for x-pr-plan gate 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@docs/plans/2026-03-09-pr1-mapping-scaffolding-cli-plan.md using `--force`.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C9457-4EEE-E208-5EA7-AC926B48C486}"/>
              </a:ext>
            </a:extLst>
          </p:cNvPr>
          <p:cNvSpPr txBox="1"/>
          <p:nvPr/>
        </p:nvSpPr>
        <p:spPr>
          <a:xfrm>
            <a:off x="627195" y="3173130"/>
            <a:ext cx="4495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Defaults: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Max 10 rounds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Reviewers use haiku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Fixer uses opus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--force</a:t>
            </a:r>
            <a:r>
              <a:rPr lang="en-US" dirty="0"/>
              <a:t> overrides ”stall” calculations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2409-AFA4-6214-9ED5-402212E087A7}"/>
              </a:ext>
            </a:extLst>
          </p:cNvPr>
          <p:cNvSpPr txBox="1"/>
          <p:nvPr/>
        </p:nvSpPr>
        <p:spPr>
          <a:xfrm>
            <a:off x="627194" y="5030544"/>
            <a:ext cx="45893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Change reviewer/assessor model (</a:t>
            </a:r>
            <a:r>
              <a:rPr lang="en-US" dirty="0" err="1"/>
              <a:t>openai</a:t>
            </a:r>
            <a:r>
              <a:rPr lang="en-US" dirty="0"/>
              <a:t> compatible)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Change fixer model (</a:t>
            </a:r>
            <a:r>
              <a:rPr lang="en-US" dirty="0" err="1"/>
              <a:t>claude</a:t>
            </a:r>
            <a:r>
              <a:rPr lang="en-US" dirty="0"/>
              <a:t> compatible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Set man number rounds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3ED1C-A749-37B2-C5F9-5DFE5A579B8D}"/>
              </a:ext>
            </a:extLst>
          </p:cNvPr>
          <p:cNvSpPr txBox="1"/>
          <p:nvPr/>
        </p:nvSpPr>
        <p:spPr>
          <a:xfrm>
            <a:off x="5380915" y="3542461"/>
            <a:ext cx="1665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Finishes when: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D535E-3450-48A0-74CA-B40852B6D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979" y="4050293"/>
            <a:ext cx="6083826" cy="261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5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89F7E-74E0-3803-A7F6-2EF238D5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Behavior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18D31B-ADB9-9ECA-0591-349B550B9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55" y="1497270"/>
            <a:ext cx="6239005" cy="49956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45D554-6F50-AB04-881A-B4064B8BC617}"/>
              </a:ext>
            </a:extLst>
          </p:cNvPr>
          <p:cNvSpPr txBox="1"/>
          <p:nvPr/>
        </p:nvSpPr>
        <p:spPr>
          <a:xfrm>
            <a:off x="6776582" y="1702888"/>
            <a:ext cx="20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convergence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69127-CDDE-4337-C286-9DCDD3CEBDAE}"/>
              </a:ext>
            </a:extLst>
          </p:cNvPr>
          <p:cNvSpPr txBox="1"/>
          <p:nvPr/>
        </p:nvSpPr>
        <p:spPr>
          <a:xfrm>
            <a:off x="6776582" y="2693085"/>
            <a:ext cx="50329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Wants to please?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Finding the same problems (not getting fixed?)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should definition of convergence be?</a:t>
            </a:r>
          </a:p>
        </p:txBody>
      </p:sp>
    </p:spTree>
    <p:extLst>
      <p:ext uri="{BB962C8B-B14F-4D97-AF65-F5344CB8AC3E}">
        <p14:creationId xmlns:p14="http://schemas.microsoft.com/office/powerpoint/2010/main" val="3988752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0B05FF-1F5F-926C-21D5-080D97002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87F5E-2424-65B6-0DD3-DF5DB9E32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fixer can decide to not fix an issue:</a:t>
            </a:r>
          </a:p>
          <a:p>
            <a:pPr lvl="1"/>
            <a:r>
              <a:rPr lang="en-US" dirty="0"/>
              <a:t>Already fixed</a:t>
            </a:r>
          </a:p>
          <a:p>
            <a:pPr lvl="1"/>
            <a:r>
              <a:rPr lang="en-US" dirty="0"/>
              <a:t>Out of scope</a:t>
            </a:r>
          </a:p>
          <a:p>
            <a:pPr lvl="1"/>
            <a:r>
              <a:rPr lang="en-US" dirty="0"/>
              <a:t>Mitigated elsewhere (the reviewer missed)</a:t>
            </a:r>
          </a:p>
          <a:p>
            <a:r>
              <a:rPr lang="en-US" dirty="0"/>
              <a:t>This is not captured by the assessor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006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6F59F-31A8-5003-C355-07F9D3280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15FE5-B1BA-5164-99EF-5B2026990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duplicates identified among reviewers; not between rounds</a:t>
            </a:r>
          </a:p>
          <a:p>
            <a:pPr lvl="1"/>
            <a:r>
              <a:rPr lang="en-US" dirty="0"/>
              <a:t>This is different – they were not fixed and may represent</a:t>
            </a:r>
          </a:p>
          <a:p>
            <a:pPr lvl="2"/>
            <a:r>
              <a:rPr lang="en-US" dirty="0"/>
              <a:t>Things out of scope</a:t>
            </a:r>
          </a:p>
          <a:p>
            <a:pPr lvl="2"/>
            <a:r>
              <a:rPr lang="en-US" dirty="0"/>
              <a:t>Things mitigated elsewhere (the reviewer misses)</a:t>
            </a:r>
          </a:p>
          <a:p>
            <a:pPr lvl="2"/>
            <a:r>
              <a:rPr lang="en-US" dirty="0"/>
              <a:t>Real problems that LLM can’t fix on its own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327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D55CA-2443-E366-96DA-729811A3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FAF47-31AA-673E-B5CE-1D4C79671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Track number of issues addressed by fixer.</a:t>
            </a:r>
          </a:p>
          <a:p>
            <a:r>
              <a:rPr lang="en-US" dirty="0"/>
              <a:t>Remove issues that persist over may rounds (3)</a:t>
            </a:r>
          </a:p>
        </p:txBody>
      </p:sp>
    </p:spTree>
    <p:extLst>
      <p:ext uri="{BB962C8B-B14F-4D97-AF65-F5344CB8AC3E}">
        <p14:creationId xmlns:p14="http://schemas.microsoft.com/office/powerpoint/2010/main" val="2391913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934A10-EA31-411A-B51C-737D1755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 History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B09159-6C26-B158-2C4B-1E36E8A53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14" y="1500674"/>
            <a:ext cx="6934200" cy="4992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D07709-6177-5614-4A58-8AFB4360FECB}"/>
              </a:ext>
            </a:extLst>
          </p:cNvPr>
          <p:cNvSpPr txBox="1"/>
          <p:nvPr/>
        </p:nvSpPr>
        <p:spPr>
          <a:xfrm>
            <a:off x="7456836" y="1500674"/>
            <a:ext cx="361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is it done?</a:t>
            </a:r>
          </a:p>
        </p:txBody>
      </p:sp>
    </p:spTree>
    <p:extLst>
      <p:ext uri="{BB962C8B-B14F-4D97-AF65-F5344CB8AC3E}">
        <p14:creationId xmlns:p14="http://schemas.microsoft.com/office/powerpoint/2010/main" val="2674954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1CA7-C1A4-B3F5-9842-C96C1E45A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3C46B-69DA-0D13-C87F-0A21A0DE2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additional context to reviewers</a:t>
            </a:r>
          </a:p>
          <a:p>
            <a:pPr lvl="1"/>
            <a:r>
              <a:rPr lang="en-US" dirty="0"/>
              <a:t>List of issues already fixed</a:t>
            </a:r>
          </a:p>
          <a:p>
            <a:pPr lvl="1"/>
            <a:r>
              <a:rPr lang="en-US" dirty="0"/>
              <a:t>List of issues the fixer felt were already fixed</a:t>
            </a:r>
          </a:p>
          <a:p>
            <a:pPr lvl="1"/>
            <a:r>
              <a:rPr lang="en-US" dirty="0"/>
              <a:t>List of issues fixer decided not to fix</a:t>
            </a:r>
          </a:p>
          <a:p>
            <a:r>
              <a:rPr lang="en-US" dirty="0"/>
              <a:t>With instructions to re-raise only if the reviewer has a strong opinion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19DED6-121D-4ADF-C57A-7E243E768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987" y="4072960"/>
            <a:ext cx="7163844" cy="264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418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481</Words>
  <Application>Microsoft Macintosh PowerPoint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Office Theme</vt:lpstr>
      <vt:lpstr>/convergence-review</vt:lpstr>
      <vt:lpstr>Purpose</vt:lpstr>
      <vt:lpstr>Original Architecture</vt:lpstr>
      <vt:lpstr>Architecture</vt:lpstr>
      <vt:lpstr>Starting Prompt</vt:lpstr>
      <vt:lpstr>Common Behavior</vt:lpstr>
      <vt:lpstr>Exploration</vt:lpstr>
      <vt:lpstr>Exploration</vt:lpstr>
      <vt:lpstr>Fixes?</vt:lpstr>
      <vt:lpstr>Round History</vt:lpstr>
      <vt:lpstr>Exploration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Kalantar</dc:creator>
  <cp:lastModifiedBy>Michael Kalantar</cp:lastModifiedBy>
  <cp:revision>5</cp:revision>
  <dcterms:created xsi:type="dcterms:W3CDTF">2026-03-10T13:23:55Z</dcterms:created>
  <dcterms:modified xsi:type="dcterms:W3CDTF">2026-03-10T21:22:32Z</dcterms:modified>
</cp:coreProperties>
</file>